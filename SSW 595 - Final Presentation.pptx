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291cbc1a4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d291cbc1a4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d291cbc1a4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d291cbc1a4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291cbc1a4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d291cbc1a4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9680ed463c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9680ed463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291cbc1a4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d291cbc1a4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db49d535cb_0_0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g3db49d535cb_0_0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db49d535cb_0_0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b49d535cb_0_6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db49d535cb_0_6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db49d535cb_0_6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db49d535cb_0_12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g3db49d535cb_0_12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db49d535cb_0_12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b49d535cb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db49d535cb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b49d535cb_0_18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3db49d535cb_0_18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db49d535cb_0_18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b48f115a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db48f115a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968a0f4c73_1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968a0f4c73_1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d291cbc1a4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d291cbc1a4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d291cbc1a4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d291cbc1a4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CE5CD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Relationship Id="rId4" Type="http://schemas.openxmlformats.org/officeDocument/2006/relationships/image" Target="../media/image9.jpg"/><Relationship Id="rId5" Type="http://schemas.openxmlformats.org/officeDocument/2006/relationships/image" Target="../media/image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0.png"/><Relationship Id="rId6" Type="http://schemas.openxmlformats.org/officeDocument/2006/relationships/image" Target="../media/image13.png"/><Relationship Id="rId7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rescuingleftovercuisine.org" TargetMode="External"/><Relationship Id="rId4" Type="http://schemas.openxmlformats.org/officeDocument/2006/relationships/hyperlink" Target="http://moveforhunger.org" TargetMode="External"/><Relationship Id="rId5" Type="http://schemas.openxmlformats.org/officeDocument/2006/relationships/hyperlink" Target="http://epa.gov" TargetMode="External"/><Relationship Id="rId6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kaggle.com/datasets/wafaaelhusseini/extended-recipes-dataset-64k-dishes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moveforhunger.org/the-environmental-impact-of-food-waste?gad_source=1&amp;gad_campaignid=22583340663&amp;gbraid=0AAAAADxwJW4QvzMmn5dohkrXLliYvYMC9&amp;gclid=Cj0KCQiA49XMBhDRARIsAOOKJHYkUKZJtLoH9WJrVRJsrnMmevnzLsy6dAQkvSApgAVHftdEzlvjzZ0aAoE2EALw_wcB" TargetMode="External"/><Relationship Id="rId4" Type="http://schemas.openxmlformats.org/officeDocument/2006/relationships/hyperlink" Target="https://www.epa.gov/system/files/documents/2025-04/costoffoodwastereport_508.pdf" TargetMode="External"/><Relationship Id="rId9" Type="http://schemas.openxmlformats.org/officeDocument/2006/relationships/hyperlink" Target="https://scikit-learn.org/stable/modules/generated/sklearn.neighbors.NearestNeighbors.html" TargetMode="External"/><Relationship Id="rId5" Type="http://schemas.openxmlformats.org/officeDocument/2006/relationships/hyperlink" Target="https://www.rescuingleftovercuisine.org/challenge?gad_source=1&amp;gad_campaignid=1713847137&amp;gbraid=0AAAAADmvjSmwzSCFolJe53iA2hm9UPCq6&amp;gclid=Cj0KCQiA49XMBhDRARIsAOOKJHaP9vLApIHLD-UqUWqbMcudEV-YsMfk7QwTUnUtkccY915tcNi_bTMaAttOEALw_wcB" TargetMode="External"/><Relationship Id="rId6" Type="http://schemas.openxmlformats.org/officeDocument/2006/relationships/hyperlink" Target="https://www.macrotrends.net/global-metrics/countries/usa/united-states/population" TargetMode="External"/><Relationship Id="rId7" Type="http://schemas.openxmlformats.org/officeDocument/2006/relationships/hyperlink" Target="https://scikit-learn.org/stable/" TargetMode="External"/><Relationship Id="rId8" Type="http://schemas.openxmlformats.org/officeDocument/2006/relationships/hyperlink" Target="https://scikit-learn.org/stable/modules/generated/sklearn.feature_extraction.text.TfidfVectorizer.html" TargetMode="External"/></Relationships>
</file>

<file path=ppt/slides/_rels/slide15.xml.rels><?xml version="1.0" encoding="UTF-8" standalone="yes"?><Relationships xmlns="http://schemas.openxmlformats.org/package/2006/relationships"><Relationship Id="rId11" Type="http://schemas.openxmlformats.org/officeDocument/2006/relationships/hyperlink" Target="https://github.com" TargetMode="External"/><Relationship Id="rId10" Type="http://schemas.openxmlformats.org/officeDocument/2006/relationships/hyperlink" Target="https://www.python.org" TargetMode="External"/><Relationship Id="rId12" Type="http://schemas.openxmlformats.org/officeDocument/2006/relationships/hyperlink" Target="https://github.com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www.kaggle.com" TargetMode="External"/><Relationship Id="rId4" Type="http://schemas.openxmlformats.org/officeDocument/2006/relationships/hyperlink" Target="https://www.kaggle.com" TargetMode="External"/><Relationship Id="rId9" Type="http://schemas.openxmlformats.org/officeDocument/2006/relationships/hyperlink" Target="https://www.python.org" TargetMode="External"/><Relationship Id="rId5" Type="http://schemas.openxmlformats.org/officeDocument/2006/relationships/hyperlink" Target="https://scikit-learn.org" TargetMode="External"/><Relationship Id="rId6" Type="http://schemas.openxmlformats.org/officeDocument/2006/relationships/hyperlink" Target="https://scikit-learn.org" TargetMode="External"/><Relationship Id="rId7" Type="http://schemas.openxmlformats.org/officeDocument/2006/relationships/hyperlink" Target="https://docs.streamlit.io" TargetMode="External"/><Relationship Id="rId8" Type="http://schemas.openxmlformats.org/officeDocument/2006/relationships/hyperlink" Target="https://docs.streamlit.io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150" y="0"/>
            <a:ext cx="9144000" cy="5143500"/>
          </a:xfrm>
          <a:prstGeom prst="rect">
            <a:avLst/>
          </a:prstGeom>
          <a:noFill/>
          <a:ln cap="flat" cmpd="sng" w="114300">
            <a:solidFill>
              <a:srgbClr val="E6B8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E6B8AF"/>
              </a:solidFill>
            </a:endParaRPr>
          </a:p>
        </p:txBody>
      </p:sp>
      <p:sp>
        <p:nvSpPr>
          <p:cNvPr id="56" name="Google Shape;56;p14"/>
          <p:cNvSpPr txBox="1"/>
          <p:nvPr/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AI Nutritionist</a:t>
            </a:r>
            <a:endParaRPr sz="5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4"/>
          <p:cNvSpPr txBox="1"/>
          <p:nvPr/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By: Faith, Jared, Kalyani, Ian</a:t>
            </a:r>
            <a:endParaRPr sz="28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" name="Google Shape;58;p14" title="vines-png-43649.png"/>
          <p:cNvPicPr preferRelativeResize="0"/>
          <p:nvPr/>
        </p:nvPicPr>
        <p:blipFill rotWithShape="1">
          <a:blip r:embed="rId3">
            <a:alphaModFix/>
          </a:blip>
          <a:srcRect b="18640" l="0" r="0" t="32137"/>
          <a:stretch/>
        </p:blipFill>
        <p:spPr>
          <a:xfrm>
            <a:off x="0" y="3626724"/>
            <a:ext cx="9144002" cy="138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4" title="images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00" y="58513"/>
            <a:ext cx="2637225" cy="179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4" title="images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90874" y="55925"/>
            <a:ext cx="2695402" cy="179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20">
                <a:latin typeface="Calibri"/>
                <a:ea typeface="Calibri"/>
                <a:cs typeface="Calibri"/>
                <a:sym typeface="Calibri"/>
              </a:rPr>
              <a:t>Smart Nutrition Assistant Companion &amp; Curator (S.N.A.C.C.)</a:t>
            </a:r>
            <a:endParaRPr sz="242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Machine Learning Model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○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Ingredients + Dietary Preference → List of Ranked Recipes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○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User experience - Fast, easy, intuitive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○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Utility - Efficient, effective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680050" y="2602650"/>
            <a:ext cx="1876200" cy="1111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User Inputs:</a:t>
            </a: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Char char="-"/>
            </a:pPr>
            <a:r>
              <a:rPr lang="en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Pantry Inventory</a:t>
            </a: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Char char="-"/>
            </a:pPr>
            <a:r>
              <a:rPr lang="en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Dietary Preferences (Vegan, Vege</a:t>
            </a: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tarian, Gluten Free, Dairy Free)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5"/>
          <p:cNvSpPr/>
          <p:nvPr/>
        </p:nvSpPr>
        <p:spPr>
          <a:xfrm>
            <a:off x="6308200" y="2376025"/>
            <a:ext cx="2435100" cy="1785900"/>
          </a:xfrm>
          <a:prstGeom prst="rect">
            <a:avLst/>
          </a:prstGeom>
          <a:solidFill>
            <a:srgbClr val="93C47D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Char char="-"/>
            </a:pPr>
            <a:r>
              <a:rPr lang="en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Top Recipe Recommendations</a:t>
            </a:r>
            <a:r>
              <a:rPr lang="en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5"/>
          <p:cNvSpPr/>
          <p:nvPr/>
        </p:nvSpPr>
        <p:spPr>
          <a:xfrm>
            <a:off x="3451225" y="2852625"/>
            <a:ext cx="1962000" cy="6111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Recommendation Model: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-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Content-based filtering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-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Scoring Algorithm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2675375" y="3068325"/>
            <a:ext cx="656700" cy="179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9EAD3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/>
          <p:nvPr/>
        </p:nvSpPr>
        <p:spPr>
          <a:xfrm>
            <a:off x="5532350" y="3068325"/>
            <a:ext cx="656700" cy="179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6D7A8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1113" y="2976301"/>
            <a:ext cx="700880" cy="635550"/>
          </a:xfrm>
          <a:prstGeom prst="rect">
            <a:avLst/>
          </a:prstGeom>
          <a:solidFill>
            <a:srgbClr val="93C47D"/>
          </a:solidFill>
          <a:ln>
            <a:noFill/>
          </a:ln>
        </p:spPr>
      </p:pic>
      <p:pic>
        <p:nvPicPr>
          <p:cNvPr id="73" name="Google Shape;73;p15"/>
          <p:cNvPicPr preferRelativeResize="0"/>
          <p:nvPr/>
        </p:nvPicPr>
        <p:blipFill rotWithShape="1">
          <a:blip r:embed="rId4">
            <a:alphaModFix/>
          </a:blip>
          <a:srcRect b="18035" l="0" r="0" t="18035"/>
          <a:stretch/>
        </p:blipFill>
        <p:spPr>
          <a:xfrm>
            <a:off x="6735806" y="3438141"/>
            <a:ext cx="661555" cy="635550"/>
          </a:xfrm>
          <a:prstGeom prst="rect">
            <a:avLst/>
          </a:prstGeom>
          <a:solidFill>
            <a:srgbClr val="93C47D"/>
          </a:solidFill>
          <a:ln>
            <a:noFill/>
          </a:ln>
        </p:spPr>
      </p:pic>
      <p:pic>
        <p:nvPicPr>
          <p:cNvPr id="74" name="Google Shape;74;p15"/>
          <p:cNvPicPr preferRelativeResize="0"/>
          <p:nvPr/>
        </p:nvPicPr>
        <p:blipFill rotWithShape="1">
          <a:blip r:embed="rId5">
            <a:alphaModFix/>
          </a:blip>
          <a:srcRect b="0" l="12024" r="12017" t="0"/>
          <a:stretch/>
        </p:blipFill>
        <p:spPr>
          <a:xfrm>
            <a:off x="7176500" y="2975500"/>
            <a:ext cx="727308" cy="637161"/>
          </a:xfrm>
          <a:prstGeom prst="rect">
            <a:avLst/>
          </a:prstGeom>
          <a:solidFill>
            <a:srgbClr val="93C47D"/>
          </a:solidFill>
          <a:ln>
            <a:noFill/>
          </a:ln>
        </p:spPr>
      </p:pic>
      <p:pic>
        <p:nvPicPr>
          <p:cNvPr id="75" name="Google Shape;75;p15"/>
          <p:cNvPicPr preferRelativeResize="0"/>
          <p:nvPr/>
        </p:nvPicPr>
        <p:blipFill rotWithShape="1">
          <a:blip r:embed="rId6">
            <a:alphaModFix/>
          </a:blip>
          <a:srcRect b="11438" l="0" r="0" t="11438"/>
          <a:stretch/>
        </p:blipFill>
        <p:spPr>
          <a:xfrm>
            <a:off x="7749970" y="3437332"/>
            <a:ext cx="661562" cy="637168"/>
          </a:xfrm>
          <a:prstGeom prst="rect">
            <a:avLst/>
          </a:prstGeom>
          <a:solidFill>
            <a:srgbClr val="93C47D"/>
          </a:solidFill>
          <a:ln>
            <a:noFill/>
          </a:ln>
        </p:spPr>
      </p:pic>
      <p:pic>
        <p:nvPicPr>
          <p:cNvPr id="76" name="Google Shape;76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038832" y="2963300"/>
            <a:ext cx="661559" cy="661559"/>
          </a:xfrm>
          <a:prstGeom prst="rect">
            <a:avLst/>
          </a:prstGeom>
          <a:solidFill>
            <a:srgbClr val="93C47D"/>
          </a:solidFill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920">
                <a:latin typeface="Calibri"/>
                <a:ea typeface="Calibri"/>
                <a:cs typeface="Calibri"/>
                <a:sym typeface="Calibri"/>
              </a:rPr>
              <a:t>Problem Addressed - Impact of Food Waste on Environment and Economy</a:t>
            </a:r>
            <a:endParaRPr sz="192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40% of food is wasted having a </a:t>
            </a:r>
            <a:r>
              <a:rPr lang="en">
                <a:latin typeface="Calibri"/>
                <a:ea typeface="Calibri"/>
                <a:cs typeface="Calibri"/>
                <a:sym typeface="Calibri"/>
              </a:rPr>
              <a:t>direct impact on the environment and consumption of natural resources (</a:t>
            </a:r>
            <a:r>
              <a:rPr lang="en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rescuingleftovercuisine.org</a:t>
            </a:r>
            <a:r>
              <a:rPr lang="en">
                <a:latin typeface="Calibri"/>
                <a:ea typeface="Calibri"/>
                <a:cs typeface="Calibri"/>
                <a:sym typeface="Calibri"/>
              </a:rPr>
              <a:t>)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19% of food waste is from retail, food service, and households (</a:t>
            </a:r>
            <a:r>
              <a:rPr lang="en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moveforhunger.org</a:t>
            </a:r>
            <a:r>
              <a:rPr lang="en">
                <a:latin typeface="Calibri"/>
                <a:ea typeface="Calibri"/>
                <a:cs typeface="Calibri"/>
                <a:sym typeface="Calibri"/>
              </a:rPr>
              <a:t>)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Approximately $243,864,931,645 in food waste per year from America, $728.14 per capita (</a:t>
            </a:r>
            <a:r>
              <a:rPr lang="en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epa.gov</a:t>
            </a:r>
            <a:r>
              <a:rPr lang="en">
                <a:latin typeface="Calibri"/>
                <a:ea typeface="Calibri"/>
                <a:cs typeface="Calibri"/>
                <a:sym typeface="Calibri"/>
              </a:rPr>
              <a:t>)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3" name="Google Shape;83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42900" y="2909750"/>
            <a:ext cx="3190475" cy="212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Data Collection and Cleanup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7"/>
          <p:cNvSpPr/>
          <p:nvPr/>
        </p:nvSpPr>
        <p:spPr>
          <a:xfrm>
            <a:off x="311700" y="1152475"/>
            <a:ext cx="3068950" cy="2945175"/>
          </a:xfrm>
          <a:prstGeom prst="flowChartProcess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INPUT (</a:t>
            </a:r>
            <a:r>
              <a:rPr b="1" lang="en">
                <a:latin typeface="Calibri"/>
                <a:ea typeface="Calibri"/>
                <a:cs typeface="Calibri"/>
                <a:sym typeface="Calibri"/>
              </a:rPr>
              <a:t>Dataset Used): 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Extended Recipes Dataset: 64K Dishes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https://www.kaggle.com/datasets/wafaaelhusseini/extended-recipes-dataset-64k-dishes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This dataset is an extended and feature-enriched version of the original Recipes Dataset: 64K Dishes(from Kaggle — a high-quality collection of 64,000+ structured recipes.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7"/>
          <p:cNvSpPr/>
          <p:nvPr/>
        </p:nvSpPr>
        <p:spPr>
          <a:xfrm>
            <a:off x="3771525" y="1441925"/>
            <a:ext cx="5060700" cy="1411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b="1" lang="en" sz="1500">
                <a:latin typeface="Calibri"/>
                <a:ea typeface="Calibri"/>
                <a:cs typeface="Calibri"/>
                <a:sym typeface="Calibri"/>
              </a:rPr>
              <a:t>Data Sanitization:</a:t>
            </a: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 From</a:t>
            </a: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Raw CSV to Structured Objects e.g.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"[ 'Salt', 'Pepper!' ]"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Clean List: </a:t>
            </a:r>
            <a:r>
              <a:rPr lang="en" sz="1200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['salt', 'pepper']</a:t>
            </a:r>
            <a:endParaRPr sz="1200">
              <a:solidFill>
                <a:srgbClr val="1880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880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Dropping nulls and duplicates prevents any empty recipes from being recommended.</a:t>
            </a:r>
            <a:endParaRPr sz="1200">
              <a:solidFill>
                <a:srgbClr val="1880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7"/>
          <p:cNvSpPr/>
          <p:nvPr/>
        </p:nvSpPr>
        <p:spPr>
          <a:xfrm>
            <a:off x="3771525" y="3158300"/>
            <a:ext cx="5060700" cy="1629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2.      </a:t>
            </a:r>
            <a:r>
              <a:rPr b="1" lang="en">
                <a:latin typeface="Calibri"/>
                <a:ea typeface="Calibri"/>
                <a:cs typeface="Calibri"/>
                <a:sym typeface="Calibri"/>
              </a:rPr>
              <a:t>Feature Engineering:</a:t>
            </a:r>
            <a:r>
              <a:rPr lang="en">
                <a:latin typeface="Calibri"/>
                <a:ea typeface="Calibri"/>
                <a:cs typeface="Calibri"/>
                <a:sym typeface="Calibri"/>
              </a:rPr>
              <a:t> Turning Recipes into Vectors e.g. Ingredients + Cuisine + Taste = Combined_Feature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1" lang="en">
                <a:latin typeface="Calibri"/>
                <a:ea typeface="Calibri"/>
                <a:cs typeface="Calibri"/>
                <a:sym typeface="Calibri"/>
              </a:rPr>
              <a:t>Useful For: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-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TF-IDF Vectorization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-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Multi-Label Encoding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-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Ordinal Mapping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	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7"/>
          <p:cNvSpPr txBox="1"/>
          <p:nvPr/>
        </p:nvSpPr>
        <p:spPr>
          <a:xfrm>
            <a:off x="3771525" y="1091825"/>
            <a:ext cx="2007600" cy="2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B5394"/>
                </a:solidFill>
              </a:rPr>
              <a:t>Transformation Steps:</a:t>
            </a:r>
            <a:endParaRPr b="1" sz="1100">
              <a:solidFill>
                <a:srgbClr val="0B5394"/>
              </a:solidFill>
            </a:endParaRPr>
          </a:p>
        </p:txBody>
      </p:sp>
      <p:sp>
        <p:nvSpPr>
          <p:cNvPr id="93" name="Google Shape;93;p17"/>
          <p:cNvSpPr/>
          <p:nvPr/>
        </p:nvSpPr>
        <p:spPr>
          <a:xfrm rot="5400000">
            <a:off x="6128541" y="2819850"/>
            <a:ext cx="375900" cy="401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7"/>
          <p:cNvSpPr/>
          <p:nvPr/>
        </p:nvSpPr>
        <p:spPr>
          <a:xfrm flipH="1" rot="-5400000">
            <a:off x="5511874" y="4859900"/>
            <a:ext cx="977400" cy="8328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7"/>
          <p:cNvSpPr/>
          <p:nvPr/>
        </p:nvSpPr>
        <p:spPr>
          <a:xfrm>
            <a:off x="3385884" y="1982201"/>
            <a:ext cx="401100" cy="375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/>
          <p:nvPr/>
        </p:nvSpPr>
        <p:spPr>
          <a:xfrm>
            <a:off x="487925" y="325875"/>
            <a:ext cx="5060700" cy="1353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3.      </a:t>
            </a:r>
            <a:r>
              <a:rPr b="1" lang="en">
                <a:latin typeface="Calibri"/>
                <a:ea typeface="Calibri"/>
                <a:cs typeface="Calibri"/>
                <a:sym typeface="Calibri"/>
              </a:rPr>
              <a:t>Scaling &amp; Integration</a:t>
            </a:r>
            <a:r>
              <a:rPr b="1" lang="en"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">
                <a:latin typeface="Calibri"/>
                <a:ea typeface="Calibri"/>
                <a:cs typeface="Calibri"/>
                <a:sym typeface="Calibri"/>
              </a:rPr>
              <a:t> Model Readiness &amp; Export	</a:t>
            </a:r>
            <a:r>
              <a:rPr b="1" lang="en">
                <a:latin typeface="Calibri"/>
                <a:ea typeface="Calibri"/>
                <a:cs typeface="Calibri"/>
                <a:sym typeface="Calibri"/>
              </a:rPr>
              <a:t>Useful For: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-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Apply MinMax Scaler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-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The training and testing split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-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Artifact Export (Saving .pkl files)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8"/>
          <p:cNvSpPr/>
          <p:nvPr/>
        </p:nvSpPr>
        <p:spPr>
          <a:xfrm flipH="1" rot="-5400000">
            <a:off x="5338350" y="210300"/>
            <a:ext cx="1353600" cy="8328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8"/>
          <p:cNvSpPr/>
          <p:nvPr/>
        </p:nvSpPr>
        <p:spPr>
          <a:xfrm rot="5400000">
            <a:off x="2830317" y="1704492"/>
            <a:ext cx="375900" cy="325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8"/>
          <p:cNvSpPr/>
          <p:nvPr/>
        </p:nvSpPr>
        <p:spPr>
          <a:xfrm>
            <a:off x="487925" y="2055350"/>
            <a:ext cx="7809000" cy="26820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OUTPUT (Model-Ready Artifacts): 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Calibri"/>
              <a:buAutoNum type="arabicPeriod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Cleaned Metadata (.csv)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Calibri"/>
              <a:buAutoNum type="arabicPeriod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The Feature Matrix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Calibri"/>
              <a:buAutoNum type="arabicPeriod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Fitted Encoders (.pkl)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104;p18"/>
          <p:cNvPicPr preferRelativeResize="0"/>
          <p:nvPr/>
        </p:nvPicPr>
        <p:blipFill rotWithShape="1">
          <a:blip r:embed="rId3">
            <a:alphaModFix/>
          </a:blip>
          <a:srcRect b="17177" l="0" r="0" t="15328"/>
          <a:stretch/>
        </p:blipFill>
        <p:spPr>
          <a:xfrm>
            <a:off x="3492750" y="2458119"/>
            <a:ext cx="4504550" cy="2026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Model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b="1" lang="en" sz="1218">
                <a:latin typeface="Calibri"/>
                <a:ea typeface="Calibri"/>
                <a:cs typeface="Calibri"/>
                <a:sym typeface="Calibri"/>
              </a:rPr>
              <a:t>Data Preprocessing for Recipe Recommendation System</a:t>
            </a:r>
            <a:endParaRPr b="1" sz="1218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b="1" lang="en" sz="1218">
                <a:latin typeface="Calibri"/>
                <a:ea typeface="Calibri"/>
                <a:cs typeface="Calibri"/>
                <a:sym typeface="Calibri"/>
              </a:rPr>
              <a:t>Need for Preprocessing</a:t>
            </a:r>
            <a:endParaRPr b="1" sz="1218">
              <a:latin typeface="Calibri"/>
              <a:ea typeface="Calibri"/>
              <a:cs typeface="Calibri"/>
              <a:sym typeface="Calibri"/>
            </a:endParaRPr>
          </a:p>
          <a:p>
            <a:pPr indent="-305911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218"/>
              <a:buFont typeface="Calibri"/>
              <a:buChar char="●"/>
            </a:pPr>
            <a:r>
              <a:rPr lang="en" sz="1218">
                <a:latin typeface="Calibri"/>
                <a:ea typeface="Calibri"/>
                <a:cs typeface="Calibri"/>
                <a:sym typeface="Calibri"/>
              </a:rPr>
              <a:t>Objective: Prepare raw recipe data for machine learning</a:t>
            </a:r>
            <a:endParaRPr sz="1218">
              <a:latin typeface="Calibri"/>
              <a:ea typeface="Calibri"/>
              <a:cs typeface="Calibri"/>
              <a:sym typeface="Calibri"/>
            </a:endParaRPr>
          </a:p>
          <a:p>
            <a:pPr indent="-30591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18"/>
              <a:buFont typeface="Calibri"/>
              <a:buChar char="●"/>
            </a:pPr>
            <a:r>
              <a:rPr lang="en" sz="1218">
                <a:latin typeface="Calibri"/>
                <a:ea typeface="Calibri"/>
                <a:cs typeface="Calibri"/>
                <a:sym typeface="Calibri"/>
              </a:rPr>
              <a:t>Input: recipes_extended.csv</a:t>
            </a:r>
            <a:endParaRPr sz="1218">
              <a:latin typeface="Calibri"/>
              <a:ea typeface="Calibri"/>
              <a:cs typeface="Calibri"/>
              <a:sym typeface="Calibri"/>
            </a:endParaRPr>
          </a:p>
          <a:p>
            <a:pPr indent="-30591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18"/>
              <a:buFont typeface="Calibri"/>
              <a:buChar char="●"/>
            </a:pPr>
            <a:r>
              <a:rPr lang="en" sz="1218">
                <a:latin typeface="Calibri"/>
                <a:ea typeface="Calibri"/>
                <a:cs typeface="Calibri"/>
                <a:sym typeface="Calibri"/>
              </a:rPr>
              <a:t>Output: recipes_cleaned.csv </a:t>
            </a:r>
            <a:endParaRPr sz="1218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b="1" lang="en" sz="1218">
                <a:latin typeface="Calibri"/>
                <a:ea typeface="Calibri"/>
                <a:cs typeface="Calibri"/>
                <a:sym typeface="Calibri"/>
              </a:rPr>
              <a:t>Issues with Raw Data</a:t>
            </a:r>
            <a:endParaRPr b="1" sz="1218">
              <a:latin typeface="Calibri"/>
              <a:ea typeface="Calibri"/>
              <a:cs typeface="Calibri"/>
              <a:sym typeface="Calibri"/>
            </a:endParaRPr>
          </a:p>
          <a:p>
            <a:pPr indent="-305911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218"/>
              <a:buFont typeface="Calibri"/>
              <a:buChar char="●"/>
            </a:pPr>
            <a:r>
              <a:rPr lang="en" sz="1218">
                <a:latin typeface="Calibri"/>
                <a:ea typeface="Calibri"/>
                <a:cs typeface="Calibri"/>
                <a:sym typeface="Calibri"/>
              </a:rPr>
              <a:t>Ingredients stored as strings instead of lists</a:t>
            </a:r>
            <a:endParaRPr sz="1218">
              <a:latin typeface="Calibri"/>
              <a:ea typeface="Calibri"/>
              <a:cs typeface="Calibri"/>
              <a:sym typeface="Calibri"/>
            </a:endParaRPr>
          </a:p>
          <a:p>
            <a:pPr indent="-30591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18"/>
              <a:buFont typeface="Calibri"/>
              <a:buChar char="●"/>
            </a:pPr>
            <a:r>
              <a:rPr lang="en" sz="1218">
                <a:latin typeface="Calibri"/>
                <a:ea typeface="Calibri"/>
                <a:cs typeface="Calibri"/>
                <a:sym typeface="Calibri"/>
              </a:rPr>
              <a:t>Inconsistent text (uppercase, missing values)</a:t>
            </a:r>
            <a:endParaRPr sz="1218">
              <a:latin typeface="Calibri"/>
              <a:ea typeface="Calibri"/>
              <a:cs typeface="Calibri"/>
              <a:sym typeface="Calibri"/>
            </a:endParaRPr>
          </a:p>
          <a:p>
            <a:pPr indent="-30591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18"/>
              <a:buFont typeface="Calibri"/>
              <a:buChar char="●"/>
            </a:pPr>
            <a:r>
              <a:rPr lang="en" sz="1218">
                <a:latin typeface="Calibri"/>
                <a:ea typeface="Calibri"/>
                <a:cs typeface="Calibri"/>
                <a:sym typeface="Calibri"/>
              </a:rPr>
              <a:t>Presence of irrelevant columns</a:t>
            </a:r>
            <a:endParaRPr sz="1218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b="1" lang="en" sz="1218">
                <a:latin typeface="Calibri"/>
                <a:ea typeface="Calibri"/>
                <a:cs typeface="Calibri"/>
                <a:sym typeface="Calibri"/>
              </a:rPr>
              <a:t>Goal</a:t>
            </a:r>
            <a:endParaRPr b="1" sz="1218">
              <a:latin typeface="Calibri"/>
              <a:ea typeface="Calibri"/>
              <a:cs typeface="Calibri"/>
              <a:sym typeface="Calibri"/>
            </a:endParaRPr>
          </a:p>
          <a:p>
            <a:pPr indent="-305911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218"/>
              <a:buFont typeface="Calibri"/>
              <a:buChar char="●"/>
            </a:pPr>
            <a:r>
              <a:rPr lang="en" sz="1218">
                <a:latin typeface="Calibri"/>
                <a:ea typeface="Calibri"/>
                <a:cs typeface="Calibri"/>
                <a:sym typeface="Calibri"/>
              </a:rPr>
              <a:t>Clean and standardize data</a:t>
            </a:r>
            <a:endParaRPr sz="1218">
              <a:latin typeface="Calibri"/>
              <a:ea typeface="Calibri"/>
              <a:cs typeface="Calibri"/>
              <a:sym typeface="Calibri"/>
            </a:endParaRPr>
          </a:p>
          <a:p>
            <a:pPr indent="-30591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18"/>
              <a:buFont typeface="Calibri"/>
              <a:buChar char="●"/>
            </a:pPr>
            <a:r>
              <a:rPr lang="en" sz="1218">
                <a:latin typeface="Calibri"/>
                <a:ea typeface="Calibri"/>
                <a:cs typeface="Calibri"/>
                <a:sym typeface="Calibri"/>
              </a:rPr>
              <a:t>Convert into a machine learning–friendly format</a:t>
            </a:r>
            <a:endParaRPr sz="1218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1865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" name="Google Shape;11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5360" y="1017725"/>
            <a:ext cx="3206506" cy="310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/>
          <p:nvPr/>
        </p:nvSpPr>
        <p:spPr>
          <a:xfrm>
            <a:off x="480060" y="411480"/>
            <a:ext cx="82296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Calibri"/>
              <a:buNone/>
            </a:pPr>
            <a:r>
              <a:rPr i="0" lang="en" sz="24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The Model</a:t>
            </a:r>
            <a:endParaRPr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0"/>
          <p:cNvSpPr/>
          <p:nvPr/>
        </p:nvSpPr>
        <p:spPr>
          <a:xfrm>
            <a:off x="617220" y="1234440"/>
            <a:ext cx="7886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765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 content-based recipe recommender</a:t>
            </a:r>
            <a:endParaRPr b="0" i="0" sz="15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marR="0" rtl="0" algn="l"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Takes a list of ingredients, a diet, and taste preferences</a:t>
            </a:r>
            <a:endParaRPr b="0" i="0" sz="15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marR="0" rtl="0" algn="l"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Returns the recipes most similar to what the user has</a:t>
            </a:r>
            <a:endParaRPr b="0" i="0" sz="15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marR="0" rtl="0" algn="l"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No neural network </a:t>
            </a:r>
            <a:endParaRPr sz="1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1" marL="685800" marR="0" rtl="0" algn="l"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Char char="○"/>
            </a:pPr>
            <a:r>
              <a:rPr b="0" i="0" lang="en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uses classical ML (TF-IDF + Nearest Neighbors)</a:t>
            </a:r>
            <a:endParaRPr b="0" i="0" sz="15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4077" y="1565614"/>
            <a:ext cx="3023875" cy="201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/>
          <p:nvPr/>
        </p:nvSpPr>
        <p:spPr>
          <a:xfrm>
            <a:off x="480060" y="411480"/>
            <a:ext cx="82296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Calibri"/>
              <a:buNone/>
            </a:pPr>
            <a:r>
              <a:rPr i="0" lang="e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the Model is Built</a:t>
            </a:r>
            <a:endParaRPr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21"/>
          <p:cNvSpPr/>
          <p:nvPr/>
        </p:nvSpPr>
        <p:spPr>
          <a:xfrm>
            <a:off x="617220" y="1234440"/>
            <a:ext cx="7886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765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Each recipe is converted into a numerical vector using </a:t>
            </a:r>
            <a:r>
              <a:rPr b="0" i="0" lang="en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TF-IDF</a:t>
            </a:r>
            <a:endParaRPr b="0" i="0" sz="15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marR="0" rtl="0" algn="l"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TF-IDF weights ingredients by how unique they are to each recipe</a:t>
            </a:r>
            <a:endParaRPr b="0" i="0" sz="15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marR="0" rtl="0" algn="l"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All recipe vectors are indexed with a Nearest Neighbors model</a:t>
            </a:r>
            <a:endParaRPr b="0" i="0" sz="15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marR="0" rtl="0" algn="l"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The trained model is saved so it can be reused without retraining</a:t>
            </a:r>
            <a:endParaRPr b="0" i="0" sz="15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7" name="Google Shape;12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5875" y="2733225"/>
            <a:ext cx="3880450" cy="217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2"/>
          <p:cNvSpPr/>
          <p:nvPr/>
        </p:nvSpPr>
        <p:spPr>
          <a:xfrm>
            <a:off x="480060" y="411480"/>
            <a:ext cx="82296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Calibri"/>
              <a:buNone/>
            </a:pPr>
            <a:r>
              <a:rPr i="0" lang="e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the Model is Used</a:t>
            </a:r>
            <a:endParaRPr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2"/>
          <p:cNvSpPr/>
          <p:nvPr/>
        </p:nvSpPr>
        <p:spPr>
          <a:xfrm>
            <a:off x="617220" y="1234440"/>
            <a:ext cx="7886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765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Char char="•"/>
            </a:pPr>
            <a:r>
              <a:rPr i="0" lang="en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User ingredients are turned into a query vector with the same TF-IDF</a:t>
            </a:r>
            <a:endParaRPr i="0" sz="15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marR="0" rtl="0" algn="l"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Char char="•"/>
            </a:pPr>
            <a:r>
              <a:rPr i="0" lang="en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Recipes are filtered by dietary preference (vegan, gluten-free, etc.)</a:t>
            </a:r>
            <a:endParaRPr i="0" sz="15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marR="0" rtl="0" algn="l"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Char char="•"/>
            </a:pPr>
            <a:r>
              <a:rPr i="0" lang="en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Recipes are filtered by up to two taste preferences</a:t>
            </a:r>
            <a:endParaRPr i="0" sz="15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marR="0" rtl="0" algn="l"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Char char="•"/>
            </a:pPr>
            <a:r>
              <a:rPr i="0" lang="en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Cosine similarity finds the closest matches to the query</a:t>
            </a:r>
            <a:endParaRPr i="0" sz="15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marR="0" rtl="0" algn="l"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Char char="•"/>
            </a:pPr>
            <a:r>
              <a:rPr i="0" lang="en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The top-N most similar recipes are returned</a:t>
            </a:r>
            <a:endParaRPr i="0" sz="15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Impact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3"/>
          <p:cNvSpPr txBox="1"/>
          <p:nvPr>
            <p:ph idx="1" type="body"/>
          </p:nvPr>
        </p:nvSpPr>
        <p:spPr>
          <a:xfrm>
            <a:off x="311700" y="1152475"/>
            <a:ext cx="8318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Addresses food waste on the individual-level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Economic and environmental impacts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Convenience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" name="Google Shape;14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2155" y="2883175"/>
            <a:ext cx="3943170" cy="220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149" y="2883176"/>
            <a:ext cx="2948030" cy="220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4"/>
          <p:cNvSpPr/>
          <p:nvPr/>
        </p:nvSpPr>
        <p:spPr>
          <a:xfrm>
            <a:off x="480060" y="411480"/>
            <a:ext cx="82296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Calibri"/>
              <a:buNone/>
            </a:pPr>
            <a:r>
              <a:rPr b="1" i="0" lang="en" sz="24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Tools Used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4"/>
          <p:cNvSpPr/>
          <p:nvPr/>
        </p:nvSpPr>
        <p:spPr>
          <a:xfrm>
            <a:off x="617220" y="1234440"/>
            <a:ext cx="7886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1300" lvl="0" marL="2540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Python </a:t>
            </a:r>
            <a:endParaRPr b="0" i="0" sz="1400" u="none" cap="none" strike="noStrike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1" marL="6858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Calibri"/>
              <a:buChar char="○"/>
            </a:pPr>
            <a:r>
              <a:rPr b="0" i="0" lang="en" sz="14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main programming language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1300" lvl="0" marL="254000" marR="0" rtl="0" algn="l">
              <a:spcBef>
                <a:spcPts val="90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scikit-learn</a:t>
            </a:r>
            <a:endParaRPr sz="1400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1" marL="685800" marR="0" rtl="0" algn="l">
              <a:spcBef>
                <a:spcPts val="90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Calibri"/>
              <a:buChar char="○"/>
            </a:pPr>
            <a:r>
              <a:rPr b="0" i="0" lang="en" sz="14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TF-IDF vectorizer and Nearest Neighbors model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1300" lvl="0" marL="254000" marR="0" rtl="0" algn="l">
              <a:spcBef>
                <a:spcPts val="90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pandas </a:t>
            </a:r>
            <a:endParaRPr sz="1400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1" marL="685800" marR="0" rtl="0" algn="l">
              <a:spcBef>
                <a:spcPts val="90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Calibri"/>
              <a:buChar char="○"/>
            </a:pPr>
            <a:r>
              <a:rPr b="0" i="0" lang="en" sz="14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loading and handling the recipe data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1300" lvl="0" marL="254000" marR="0" rtl="0" algn="l">
              <a:spcBef>
                <a:spcPts val="90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Streamlit </a:t>
            </a:r>
            <a:endParaRPr sz="1400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1" marL="685800" marR="0" rtl="0" algn="l">
              <a:spcBef>
                <a:spcPts val="90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Calibri"/>
              <a:buChar char="○"/>
            </a:pPr>
            <a:r>
              <a:rPr b="0" i="0" lang="en" sz="14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web interface for trying the model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1300" lvl="0" marL="254000" marR="0" rtl="0" algn="l">
              <a:spcBef>
                <a:spcPts val="90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Kaggle </a:t>
            </a:r>
            <a:endParaRPr sz="1400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1" marL="685800" marR="0" rtl="0" algn="l">
              <a:spcBef>
                <a:spcPts val="90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Calibri"/>
              <a:buChar char="○"/>
            </a:pPr>
            <a:r>
              <a:rPr b="0" i="0" lang="en" sz="14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source of the public recipe dataset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1300" lvl="0" marL="254000" marR="0" rtl="0" algn="l">
              <a:spcBef>
                <a:spcPts val="90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endParaRPr sz="1400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1" marL="685800" marR="0" rtl="0" algn="l">
              <a:spcBef>
                <a:spcPts val="90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Calibri"/>
              <a:buChar char="○"/>
            </a:pPr>
            <a:r>
              <a:rPr b="0" i="0" lang="en" sz="14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code hosting and version control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Work</a:t>
            </a:r>
            <a:endParaRPr/>
          </a:p>
        </p:txBody>
      </p:sp>
      <p:sp>
        <p:nvSpPr>
          <p:cNvPr id="155" name="Google Shape;155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Implementation of User Feedback as Input into Model</a:t>
            </a:r>
            <a:endParaRPr/>
          </a:p>
          <a:p>
            <a:pPr indent="-317500" lvl="1" marL="914400" rtl="0" algn="l">
              <a:spcBef>
                <a:spcPts val="12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Take user opinion on recipes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“Liked it!”, “Disliked it!”, “Hated it!”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Feed user preference information as input into the model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Can be implemented on a recipe basis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Can alternatively be implemented on an ingredient basis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“Anti-Preferences”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Take into account of undesired or unavailable ingredients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Take into account of undesired tastes preferred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Live-search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Query/Scrape the internet for recipe data and fit it into the model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Sources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1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3250">
                <a:solidFill>
                  <a:schemeClr val="dk1"/>
                </a:solidFill>
              </a:rPr>
              <a:t>Real World Application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33846"/>
              <a:buFont typeface="Arial"/>
              <a:buNone/>
            </a:pPr>
            <a:r>
              <a:rPr lang="en" sz="325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The Environmental Impact of Food Waste | Move For Hunger</a:t>
            </a:r>
            <a:endParaRPr sz="32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3846"/>
              <a:buFont typeface="Arial"/>
              <a:buNone/>
            </a:pPr>
            <a:r>
              <a:rPr lang="en" sz="3250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Estimating the Cost of Food Waste to American Consumers</a:t>
            </a:r>
            <a:endParaRPr sz="32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3846"/>
              <a:buFont typeface="Arial"/>
              <a:buNone/>
            </a:pPr>
            <a:r>
              <a:rPr lang="en" sz="3250" u="sng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Reducing Wasted Food | Rescuing Leftover Cuisine</a:t>
            </a:r>
            <a:endParaRPr sz="32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3846"/>
              <a:buFont typeface="Arial"/>
              <a:buNone/>
            </a:pPr>
            <a:r>
              <a:rPr lang="en" sz="3250" u="sng">
                <a:solidFill>
                  <a:schemeClr val="accent5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U.S. Population (1950-2025)</a:t>
            </a:r>
            <a:endParaRPr sz="3250"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33846"/>
              <a:buFont typeface="Arial"/>
              <a:buNone/>
            </a:pPr>
            <a:r>
              <a:rPr b="1" lang="en" sz="3250">
                <a:solidFill>
                  <a:schemeClr val="dk1"/>
                </a:solidFill>
              </a:rPr>
              <a:t>Scikit-learn Documentation</a:t>
            </a:r>
            <a:endParaRPr b="1" sz="32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3846"/>
              <a:buFont typeface="Arial"/>
              <a:buNone/>
            </a:pPr>
            <a:r>
              <a:rPr lang="en" sz="3250" u="sng">
                <a:solidFill>
                  <a:schemeClr val="accent5"/>
                </a:solid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https://scikit-learn.org/stable/</a:t>
            </a:r>
            <a:endParaRPr sz="3250" u="sng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33846"/>
              <a:buFont typeface="Arial"/>
              <a:buNone/>
            </a:pPr>
            <a:r>
              <a:rPr b="1" lang="en" sz="3250">
                <a:solidFill>
                  <a:schemeClr val="dk1"/>
                </a:solidFill>
              </a:rPr>
              <a:t>TF-IDF Vectorizer</a:t>
            </a:r>
            <a:endParaRPr b="1" sz="32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3846"/>
              <a:buFont typeface="Arial"/>
              <a:buNone/>
            </a:pPr>
            <a:r>
              <a:rPr lang="en" sz="3250" u="sng">
                <a:solidFill>
                  <a:schemeClr val="accent5"/>
                </a:solid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https://scikit-learn.org/stable/modules/generated/sklearn.feature_extraction.text.TfidfVectorizer.html</a:t>
            </a:r>
            <a:endParaRPr sz="3250" u="sng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33846"/>
              <a:buFont typeface="Arial"/>
              <a:buNone/>
            </a:pPr>
            <a:r>
              <a:rPr b="1" lang="en" sz="3250">
                <a:solidFill>
                  <a:schemeClr val="dk1"/>
                </a:solidFill>
              </a:rPr>
              <a:t>Nearest Neighbors</a:t>
            </a:r>
            <a:endParaRPr b="1" sz="32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3846"/>
              <a:buFont typeface="Arial"/>
              <a:buNone/>
            </a:pPr>
            <a:r>
              <a:rPr lang="en" sz="3250" u="sng">
                <a:solidFill>
                  <a:schemeClr val="accent5"/>
                </a:solidFill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https://scikit-learn.org/stable/modules/generated/sklearn.neighbors.NearestNeighbors.html</a:t>
            </a:r>
            <a:endParaRPr sz="3250" u="sng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Sources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Web References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Kaggle Datasets –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4"/>
              </a:rPr>
              <a:t>https://www.kaggle.com</a:t>
            </a:r>
            <a:endParaRPr sz="1100" u="sng">
              <a:solidFill>
                <a:schemeClr val="hlink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Scikit-learn Documentation –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6"/>
              </a:rPr>
              <a:t>https://scikit-learn.org</a:t>
            </a:r>
            <a:endParaRPr sz="1100" u="sng">
              <a:solidFill>
                <a:schemeClr val="hlink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Streamlit Documentation –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8"/>
              </a:rPr>
              <a:t>https://docs.streamlit.io</a:t>
            </a:r>
            <a:endParaRPr sz="1100" u="sng">
              <a:solidFill>
                <a:schemeClr val="hlink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Python Official Site –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10"/>
              </a:rPr>
              <a:t>https://www.python.org</a:t>
            </a:r>
            <a:endParaRPr sz="1100" u="sng">
              <a:solidFill>
                <a:schemeClr val="hlink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GitHub –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12"/>
              </a:rPr>
              <a:t>https://github.com</a:t>
            </a:r>
            <a:endParaRPr sz="1100" u="sng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